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(R$ mil)</c:v>
                </c:pt>
              </c:strCache>
            </c:strRef>
          </c:tx>
          <c:spPr>
            <a:solidFill>
              <a:srgbClr val="E9B949"/>
            </a:solidFill>
            <a:effectLst/>
          </c:spPr>
          <c:invertIfNegative val="0"/>
          <c:dLbls>
            <c:numFmt formatCode="R$ #&quot;k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7F5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</c:v>
                </c:pt>
                <c:pt idx="1">
                  <c:v>289</c:v>
                </c:pt>
                <c:pt idx="2">
                  <c:v>540</c:v>
                </c:pt>
              </c:numCache>
            </c:numRef>
          </c:val>
        </c:ser>
        <c:dLbls>
          <c:numFmt formatCode="R$ #&quot;k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F7F5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44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F7F5F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44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A244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A4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0B1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D5EF4">
              <a:alpha val="30000"/>
            </a:srgbClr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4B3CC9">
              <a:alpha val="40000"/>
            </a:srgbClr>
          </a:solidFill>
          <a:ln w="12700">
            <a:solidFill>
              <a:srgbClr val="4B3C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731520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PROPOSTA DE SOCIEDADE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0" b="1" spc="12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2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transforma 40 minutos de pregação em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legendas prontas para Instagram — em 2 minutos.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  •  Versão 1.0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5943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gustaavosancho07@gmail.com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igreja contemporânea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gasta 3 dias para virar 1 pregação em conteúdo.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429000"/>
            <a:ext cx="320040" cy="36576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66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transcrevendo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manualmente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3108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3429000"/>
            <a:ext cx="320040" cy="36576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3566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44348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alcance perdido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demora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3108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429000"/>
            <a:ext cx="320040" cy="36576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3566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dias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63640" y="44348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 primeira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postagem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78240" y="31089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3429000"/>
            <a:ext cx="320040" cy="36576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356616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R$ 1,5-3k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006840" y="44348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trabalho/mês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remunerado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pior: quando publica, o culto já passou.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que roda durante o culto.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coisas acontecem em paralelo, automaticamente.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A1530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154680"/>
            <a:ext cx="731520" cy="731520"/>
          </a:xfrm>
          <a:prstGeom prst="ellipse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Transcreve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fala da pastora ao vivo, em pt-BR nativo.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28346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A1530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3154680"/>
            <a:ext cx="731520" cy="731520"/>
          </a:xfrm>
          <a:prstGeom prst="ellipse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Curador IA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2 a 4 legendas no estilo CN/Bethel.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21040" y="28346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1A1530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1080" y="3154680"/>
            <a:ext cx="731520" cy="731520"/>
          </a:xfrm>
          <a:prstGeom prst="ellipse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41080" y="4069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bíblico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41080" y="4663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versículos e sugere exibição no Holyrics.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Legendas prontas 2 minutos depois do culto. O operador só revisa e publica.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funciona em culto real.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de abril de 2026 — teste em culto ao vivo.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A1530"/>
          </a:solidFill>
          <a:ln w="25400">
            <a:solidFill>
              <a:srgbClr val="6D5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54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transcrição contínua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8346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A1530"/>
          </a:solidFill>
          <a:ln w="25400">
            <a:solidFill>
              <a:srgbClr val="6D5E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154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617720" y="4251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técnicas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28346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A1530"/>
          </a:solidFill>
          <a:ln w="25400">
            <a:solidFill>
              <a:srgbClr val="6D5E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1546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 legendas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458200" y="42519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aprovadas pela equipe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486400"/>
            <a:ext cx="73152" cy="822960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486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"Muito boas."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5897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Equipe de mídia, culto 22/04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 igrejas.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concorrentes diretos em português.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4023360" cy="4023360"/>
          </a:xfrm>
          <a:prstGeom prst="ellipse">
            <a:avLst/>
          </a:prstGeom>
          <a:solidFill>
            <a:srgbClr val="6D5EF4">
              <a:alpha val="15000"/>
            </a:srgbClr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3108960"/>
            <a:ext cx="2743200" cy="2743200"/>
          </a:xfrm>
          <a:prstGeom prst="ellipse">
            <a:avLst/>
          </a:prstGeom>
          <a:solidFill>
            <a:srgbClr val="6D5EF4">
              <a:alpha val="30000"/>
            </a:srgbClr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3840480"/>
            <a:ext cx="1280160" cy="128016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3977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0664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Igrejas evangélicas no Brasil (IBGE)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4069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3977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mídia + Holyrics + Instagram ativo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5120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realista em 3 anos (1% do SAM)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Soluções americanas (Captions.ai, Opus Clip) não atendem tom religioso brasileiro e custam 3× mais.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planos. Alta margem.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7280" y="2377440"/>
            <a:ext cx="4572000" cy="3749040"/>
          </a:xfrm>
          <a:prstGeom prst="roundRect">
            <a:avLst>
              <a:gd name="adj" fmla="val 3659"/>
            </a:avLst>
          </a:prstGeom>
          <a:solidFill>
            <a:srgbClr val="1A1530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3154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R$ 127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38328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cultos por mês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4507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4507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variações de legenda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4855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4855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Transcrição ao vivo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5202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52029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padrão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5623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87,5%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4572000" cy="3749040"/>
          </a:xfrm>
          <a:prstGeom prst="roundRect">
            <a:avLst>
              <a:gd name="adj" fmla="val 3659"/>
            </a:avLst>
          </a:prstGeom>
          <a:solidFill>
            <a:srgbClr val="6D5EF4"/>
          </a:solidFill>
          <a:ln w="25400">
            <a:solidFill>
              <a:srgbClr val="E9B9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2651760"/>
            <a:ext cx="1188720" cy="320040"/>
          </a:xfrm>
          <a:prstGeom prst="roundRect">
            <a:avLst>
              <a:gd name="adj" fmla="val 28571"/>
            </a:avLst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26517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154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R$ 297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8412480" y="3566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/mês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160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1228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cultos por mês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507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4507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variações de legenda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8554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48554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Holyrics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5202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12280" y="52029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prioritário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5623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89,3%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 (mix 80/20): R$ 161/mês. Comparativo: Planning Center R$ 200-800 · Freelancer R$ 400-1.500.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muito acima da média SaaS.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109728" cy="1737360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5,0×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— Plano 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Saudável: &gt; 3×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37744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377440"/>
            <a:ext cx="109728" cy="1737360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606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10,6×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9418320" y="2651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 — Plano Pro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97680"/>
            <a:ext cx="109728" cy="1737360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26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meses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3657600" y="4572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rápido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29768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297680"/>
            <a:ext cx="109728" cy="1737360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5262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 meses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9418320" y="45720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Pro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SaaS saudável: LTV/CAC &gt; 3×. Nossos dois planos superam com folga.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3 ANOS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zero a R$ 540k ARR em 36 meses.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0" y="2468880"/>
            <a:ext cx="228600" cy="22860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22376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clientes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22376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operacional no mês 4-5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0" y="3703320"/>
            <a:ext cx="228600" cy="22860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2376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clientes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2237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R$ 24k · Lucro anual R$ 220k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4937760"/>
            <a:ext cx="228600" cy="228600"/>
          </a:xfrm>
          <a:prstGeom prst="ellipse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2376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223760" y="5120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clientes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223760" y="5577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R$ 45k · Lucro anual R$ 440k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858000" y="576072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0" y="5760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Otimista (redes-âncora): R$ 1M-1,5M ARR no Ano 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&amp; ROADMAP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R$ 8.500 para 12 meses. Payback em 1,5 mês.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(12 meses)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27832"/>
            <a:ext cx="5029200" cy="18288"/>
          </a:xfrm>
          <a:prstGeom prst="rect">
            <a:avLst/>
          </a:prstGeom>
          <a:solidFill>
            <a:srgbClr val="E5E1F0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 infraestrutura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R$ 3.240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30752"/>
            <a:ext cx="5029200" cy="18288"/>
          </a:xfrm>
          <a:prstGeom prst="rect">
            <a:avLst/>
          </a:prstGeom>
          <a:solidFill>
            <a:srgbClr val="E5E1F0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91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orgânico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R$ 4.800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33672"/>
            <a:ext cx="5029200" cy="18288"/>
          </a:xfrm>
          <a:prstGeom prst="rect">
            <a:avLst/>
          </a:prstGeom>
          <a:solidFill>
            <a:srgbClr val="E5E1F0"/>
          </a:solidFill>
          <a:ln w="12700">
            <a:solidFill>
              <a:srgbClr val="E5E1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de pagamento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80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4480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R$ 8.490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D5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12 meses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2898648"/>
            <a:ext cx="274320" cy="274320"/>
          </a:xfrm>
          <a:prstGeom prst="ellipse">
            <a:avLst/>
          </a:prstGeom>
          <a:solidFill>
            <a:srgbClr val="3FCF8E"/>
          </a:solidFill>
          <a:ln w="12700">
            <a:solidFill>
              <a:srgbClr val="3FC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2788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✓ · OBS · Holyrics · Landing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493008"/>
            <a:ext cx="274320" cy="274320"/>
          </a:xfrm>
          <a:prstGeom prst="ellipse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3832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0" y="3429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· 10-15 pagantes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087368"/>
            <a:ext cx="274320" cy="274320"/>
          </a:xfrm>
          <a:prstGeom prst="ellipse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977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4023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Reels/TikTok · 30-40 pagantes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0" y="4681728"/>
            <a:ext cx="274320" cy="274320"/>
          </a:xfrm>
          <a:prstGeom prst="ellipse">
            <a:avLst/>
          </a:prstGeom>
          <a:solidFill>
            <a:srgbClr val="6D5EF4"/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572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46177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Holyrics · 60+ pagantes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6D5EF4">
              <a:alpha val="30000"/>
            </a:srgbClr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896112"/>
            <a:ext cx="365760" cy="36576"/>
          </a:xfrm>
          <a:prstGeom prst="rect">
            <a:avLst/>
          </a:prstGeom>
          <a:solidFill>
            <a:srgbClr val="E9B949"/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procuramos.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 que complemente o perfil técnico: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1530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95351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comercial / vendas B2B com igrejas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1530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54787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em comunidades cristãs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1530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1422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inicial — R$ 8.500 bootstrap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A1530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73659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Dedicação de meio período no Ano 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32320" y="2286000"/>
            <a:ext cx="4572000" cy="3840480"/>
          </a:xfrm>
          <a:prstGeom prst="roundRect">
            <a:avLst>
              <a:gd name="adj" fmla="val 3571"/>
            </a:avLst>
          </a:prstGeom>
          <a:solidFill>
            <a:srgbClr val="1A1530"/>
          </a:solidFill>
          <a:ln w="25400">
            <a:solidFill>
              <a:srgbClr val="E9B9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AO SÓCIO (50/50)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60920" y="2971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realista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0" y="3337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R$ 145k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6092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6112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R$ 270k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7360920" y="4480560"/>
            <a:ext cx="4114800" cy="18288"/>
          </a:xfrm>
          <a:prstGeom prst="rect">
            <a:avLst/>
          </a:prstGeom>
          <a:solidFill>
            <a:srgbClr val="2A2449"/>
          </a:solidFill>
          <a:ln w="12700">
            <a:solidFill>
              <a:srgbClr val="2A2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otimista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60920" y="5120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961120" y="5074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R$ 700k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360920" y="5669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Vesting 4 anos · cliff 1 ano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6D5EF4">
              <a:alpha val="20000"/>
            </a:srgbClr>
          </a:solidFill>
          <a:ln w="12700">
            <a:solidFill>
              <a:srgbClr val="6D5E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minutos. Você vê o sistema funcionando em tempo real.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389120"/>
            <a:ext cx="10972800" cy="1645920"/>
          </a:xfrm>
          <a:prstGeom prst="roundRect">
            <a:avLst>
              <a:gd name="adj" fmla="val 8333"/>
            </a:avLst>
          </a:prstGeom>
          <a:solidFill>
            <a:srgbClr val="1A1530"/>
          </a:solidFill>
          <a:ln w="25400">
            <a:solidFill>
              <a:srgbClr val="E9B9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AGENDAR?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gustaavosancho07@gmail.com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24h · Demo agendada em até 3 dias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RHEMA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RHEMA — Pitch Deck</dc:title>
  <dc:subject>PptxGenJS Presentation</dc:subject>
  <dc:creator>RHEMA</dc:creator>
  <cp:lastModifiedBy>RHEMA</cp:lastModifiedBy>
  <cp:revision>1</cp:revision>
  <dcterms:created xsi:type="dcterms:W3CDTF">2026-04-23T03:01:01Z</dcterms:created>
  <dcterms:modified xsi:type="dcterms:W3CDTF">2026-04-23T03:01:01Z</dcterms:modified>
</cp:coreProperties>
</file>